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8" r:id="rId1"/>
  </p:sldMasterIdLst>
  <p:sldIdLst>
    <p:sldId id="256" r:id="rId2"/>
    <p:sldId id="264" r:id="rId3"/>
    <p:sldId id="257" r:id="rId4"/>
    <p:sldId id="258" r:id="rId5"/>
    <p:sldId id="259" r:id="rId6"/>
    <p:sldId id="265" r:id="rId7"/>
    <p:sldId id="263" r:id="rId8"/>
    <p:sldId id="262" r:id="rId9"/>
    <p:sldId id="266" r:id="rId10"/>
    <p:sldId id="267" r:id="rId11"/>
    <p:sldId id="268" r:id="rId12"/>
    <p:sldId id="269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17" autoAdjust="0"/>
    <p:restoredTop sz="94660"/>
  </p:normalViewPr>
  <p:slideViewPr>
    <p:cSldViewPr snapToGrid="0">
      <p:cViewPr varScale="1">
        <p:scale>
          <a:sx n="59" d="100"/>
          <a:sy n="59" d="100"/>
        </p:scale>
        <p:origin x="107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98BD45F9-7FED-45CD-85AB-EBBCC1AC2A3C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D26B783-70CE-4077-85C0-1B835F838D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08466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D45F9-7FED-45CD-85AB-EBBCC1AC2A3C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6B783-70CE-4077-85C0-1B835F838D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48129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D45F9-7FED-45CD-85AB-EBBCC1AC2A3C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6B783-70CE-4077-85C0-1B835F838D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65520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D45F9-7FED-45CD-85AB-EBBCC1AC2A3C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6B783-70CE-4077-85C0-1B835F838D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54412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D45F9-7FED-45CD-85AB-EBBCC1AC2A3C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6B783-70CE-4077-85C0-1B835F838D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75617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D45F9-7FED-45CD-85AB-EBBCC1AC2A3C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6B783-70CE-4077-85C0-1B835F838D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29224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D45F9-7FED-45CD-85AB-EBBCC1AC2A3C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6B783-70CE-4077-85C0-1B835F838D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07609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D45F9-7FED-45CD-85AB-EBBCC1AC2A3C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6B783-70CE-4077-85C0-1B835F838D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38869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D45F9-7FED-45CD-85AB-EBBCC1AC2A3C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6B783-70CE-4077-85C0-1B835F838D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1939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D45F9-7FED-45CD-85AB-EBBCC1AC2A3C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6B783-70CE-4077-85C0-1B835F838D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29310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D45F9-7FED-45CD-85AB-EBBCC1AC2A3C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6B783-70CE-4077-85C0-1B835F838D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05484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D45F9-7FED-45CD-85AB-EBBCC1AC2A3C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6B783-70CE-4077-85C0-1B835F838D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90919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D45F9-7FED-45CD-85AB-EBBCC1AC2A3C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6B783-70CE-4077-85C0-1B835F838D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03548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D45F9-7FED-45CD-85AB-EBBCC1AC2A3C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6B783-70CE-4077-85C0-1B835F838D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57441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D45F9-7FED-45CD-85AB-EBBCC1AC2A3C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6B783-70CE-4077-85C0-1B835F838D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11312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D45F9-7FED-45CD-85AB-EBBCC1AC2A3C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6B783-70CE-4077-85C0-1B835F838D6F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35391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D45F9-7FED-45CD-85AB-EBBCC1AC2A3C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6B783-70CE-4077-85C0-1B835F838D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7314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8BD45F9-7FED-45CD-85AB-EBBCC1AC2A3C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D26B783-70CE-4077-85C0-1B835F838D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835407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99" r:id="rId1"/>
    <p:sldLayoutId id="2147483800" r:id="rId2"/>
    <p:sldLayoutId id="2147483801" r:id="rId3"/>
    <p:sldLayoutId id="2147483802" r:id="rId4"/>
    <p:sldLayoutId id="2147483803" r:id="rId5"/>
    <p:sldLayoutId id="2147483804" r:id="rId6"/>
    <p:sldLayoutId id="2147483805" r:id="rId7"/>
    <p:sldLayoutId id="2147483806" r:id="rId8"/>
    <p:sldLayoutId id="2147483807" r:id="rId9"/>
    <p:sldLayoutId id="2147483808" r:id="rId10"/>
    <p:sldLayoutId id="2147483809" r:id="rId11"/>
    <p:sldLayoutId id="2147483810" r:id="rId12"/>
    <p:sldLayoutId id="2147483811" r:id="rId13"/>
    <p:sldLayoutId id="2147483812" r:id="rId14"/>
    <p:sldLayoutId id="2147483813" r:id="rId15"/>
    <p:sldLayoutId id="2147483814" r:id="rId16"/>
    <p:sldLayoutId id="214748381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5DF08-9472-7F7F-1011-5B59A2BACD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2357" y="362857"/>
            <a:ext cx="9307286" cy="2387600"/>
          </a:xfrm>
        </p:spPr>
        <p:txBody>
          <a:bodyPr>
            <a:normAutofit/>
          </a:bodyPr>
          <a:lstStyle/>
          <a:p>
            <a:pPr algn="ctr"/>
            <a:r>
              <a:rPr lang="en-IN" sz="5400" b="1" dirty="0"/>
              <a:t>PRDA – 1 Profit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F4AE05-D64D-A744-D7AA-87DA831B0C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3074" y="3429000"/>
            <a:ext cx="10761095" cy="2134810"/>
          </a:xfrm>
        </p:spPr>
        <p:txBody>
          <a:bodyPr>
            <a:normAutofit fontScale="85000" lnSpcReduction="10000"/>
          </a:bodyPr>
          <a:lstStyle/>
          <a:p>
            <a:pPr algn="ctr"/>
            <a:r>
              <a:rPr lang="en-US" sz="2900" dirty="0"/>
              <a:t>Startup Profit Prediction Analysis Using Multiple Linear Regression</a:t>
            </a:r>
          </a:p>
          <a:p>
            <a:pPr algn="ctr"/>
            <a:r>
              <a:rPr lang="en-IN" sz="2900" b="1" dirty="0"/>
              <a:t>PRABU R</a:t>
            </a:r>
          </a:p>
          <a:p>
            <a:pPr algn="ctr"/>
            <a:r>
              <a:rPr lang="en-IN" sz="2900" b="1" dirty="0"/>
              <a:t>Datamites Internship</a:t>
            </a:r>
          </a:p>
          <a:p>
            <a:pPr algn="ctr"/>
            <a:r>
              <a:rPr lang="en-IN" sz="2900" b="1" dirty="0"/>
              <a:t>27-05-2026</a:t>
            </a:r>
          </a:p>
          <a:p>
            <a:pPr algn="ctr"/>
            <a:endParaRPr lang="en-IN" sz="2900" b="1" dirty="0"/>
          </a:p>
          <a:p>
            <a:pPr algn="ctr"/>
            <a:endParaRPr lang="en-IN" sz="2900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2752459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BB8AF-525C-F775-E8AE-02304932E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661953-F6EB-D0B3-1F0A-50C2A27144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2142067"/>
            <a:ext cx="10131425" cy="3834190"/>
          </a:xfrm>
        </p:spPr>
        <p:txBody>
          <a:bodyPr/>
          <a:lstStyle/>
          <a:p>
            <a:r>
              <a:rPr lang="en-US" sz="2400" dirty="0"/>
              <a:t>Startup profitability depends on multiple investment factors.</a:t>
            </a:r>
          </a:p>
          <a:p>
            <a:r>
              <a:rPr lang="en-US" sz="2400" dirty="0"/>
              <a:t>This project analyzes spending patterns and predicts profit using regression analysis.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716475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A2A1C-7034-1A47-9D9F-5B591B904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Objective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8EFB10AA-48A1-FDC7-0962-29FFB6AADA0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800" y="2858638"/>
            <a:ext cx="10352313" cy="22159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Analyze startup dataset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Identify factors affecting profit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Predict future profit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Compare state-wise performance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Generate business insights </a:t>
            </a:r>
          </a:p>
        </p:txBody>
      </p:sp>
    </p:spTree>
    <p:extLst>
      <p:ext uri="{BB962C8B-B14F-4D97-AF65-F5344CB8AC3E}">
        <p14:creationId xmlns:p14="http://schemas.microsoft.com/office/powerpoint/2010/main" val="21990130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887F1-BF02-3F38-B564-80DD85B6B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 dirty="0"/>
              <a:t>Dataset Understanding</a:t>
            </a:r>
            <a:endParaRPr lang="en-IN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FE2364-892C-C6B5-4121-D357E1348C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/>
              <a:t>Input Features</a:t>
            </a:r>
          </a:p>
          <a:p>
            <a:r>
              <a:rPr lang="en-US" sz="2400" dirty="0"/>
              <a:t>R&amp;D Spend </a:t>
            </a:r>
          </a:p>
          <a:p>
            <a:r>
              <a:rPr lang="en-US" sz="2400" dirty="0"/>
              <a:t>Administration Spend </a:t>
            </a:r>
          </a:p>
          <a:p>
            <a:r>
              <a:rPr lang="en-US" sz="2400" dirty="0"/>
              <a:t>Marketing Spend </a:t>
            </a:r>
          </a:p>
          <a:p>
            <a:r>
              <a:rPr lang="en-US" sz="2400" dirty="0"/>
              <a:t>State </a:t>
            </a:r>
          </a:p>
          <a:p>
            <a:pPr marL="0" indent="0">
              <a:buNone/>
            </a:pPr>
            <a:r>
              <a:rPr lang="en-US" sz="2800" b="1" dirty="0"/>
              <a:t>Target Variable</a:t>
            </a:r>
          </a:p>
          <a:p>
            <a:r>
              <a:rPr lang="en-US" sz="2400" dirty="0"/>
              <a:t>Profit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41059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4D086-A141-3EF6-7548-4EEA2DE99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 dirty="0"/>
              <a:t>Data Preprocessing</a:t>
            </a:r>
            <a:endParaRPr lang="en-IN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C8FF43-6E8E-6AC9-AF97-56674EBEFC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2307773"/>
            <a:ext cx="10207626" cy="3810000"/>
          </a:xfrm>
        </p:spPr>
        <p:txBody>
          <a:bodyPr/>
          <a:lstStyle/>
          <a:p>
            <a:pPr marL="0" indent="0">
              <a:buNone/>
            </a:pPr>
            <a:r>
              <a:rPr lang="en-US" sz="2800" b="1" dirty="0"/>
              <a:t>Steps Performed</a:t>
            </a:r>
          </a:p>
          <a:p>
            <a:r>
              <a:rPr lang="en-US" sz="2400" dirty="0"/>
              <a:t>Checked missing values </a:t>
            </a:r>
          </a:p>
          <a:p>
            <a:r>
              <a:rPr lang="en-US" sz="2400" dirty="0"/>
              <a:t>Cleaned dataset </a:t>
            </a:r>
          </a:p>
          <a:p>
            <a:r>
              <a:rPr lang="en-US" sz="2400" dirty="0"/>
              <a:t>Retained State for state-wise dashboard analysis</a:t>
            </a:r>
          </a:p>
          <a:p>
            <a:r>
              <a:rPr lang="en-US" sz="2400" dirty="0"/>
              <a:t>Created Predicted Profit column </a:t>
            </a:r>
          </a:p>
          <a:p>
            <a:r>
              <a:rPr lang="en-US" sz="2400" dirty="0"/>
              <a:t>Calculated Residual Error </a:t>
            </a:r>
          </a:p>
          <a:p>
            <a:r>
              <a:rPr lang="en-US" sz="2400" dirty="0"/>
              <a:t>Added Category column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2325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62303-15ED-1AA3-91D6-39D918A12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 dirty="0"/>
              <a:t>Regression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9243BD-2685-8D1C-77E9-71175BDBD8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2142067"/>
            <a:ext cx="10831285" cy="3649133"/>
          </a:xfrm>
        </p:spPr>
        <p:txBody>
          <a:bodyPr/>
          <a:lstStyle/>
          <a:p>
            <a:pPr marL="0" indent="0">
              <a:buNone/>
            </a:pPr>
            <a:r>
              <a:rPr lang="en-US" sz="2800" b="1" dirty="0"/>
              <a:t>Model Used:</a:t>
            </a:r>
          </a:p>
          <a:p>
            <a:r>
              <a:rPr lang="en-US" sz="2400" dirty="0"/>
              <a:t>Multiple Linear Regression</a:t>
            </a:r>
          </a:p>
          <a:p>
            <a:pPr marL="0" indent="0">
              <a:buNone/>
            </a:pPr>
            <a:r>
              <a:rPr lang="en-US" sz="2800" b="1" dirty="0"/>
              <a:t>Formula:</a:t>
            </a:r>
          </a:p>
          <a:p>
            <a:r>
              <a:rPr lang="en-US" sz="2400" dirty="0"/>
              <a:t>Predicted Profit = β₀ + β₁(R&amp;D Spend) + β₂(Administration) + β₃(Marketing Spend)</a:t>
            </a:r>
          </a:p>
          <a:p>
            <a:pPr marL="0" indent="0">
              <a:buNone/>
            </a:pPr>
            <a:r>
              <a:rPr lang="en-US" sz="2800" b="1" dirty="0"/>
              <a:t>Purpose:</a:t>
            </a:r>
          </a:p>
          <a:p>
            <a:r>
              <a:rPr lang="en-US" sz="2400" dirty="0"/>
              <a:t>To predict startup profit based on investment factors.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043518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190A9-FA61-D7AC-9FE5-492A3DD26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744" y="97971"/>
            <a:ext cx="10131425" cy="487440"/>
          </a:xfrm>
        </p:spPr>
        <p:txBody>
          <a:bodyPr>
            <a:normAutofit fontScale="90000"/>
          </a:bodyPr>
          <a:lstStyle/>
          <a:p>
            <a:r>
              <a:rPr lang="en-IN" u="sng" dirty="0"/>
              <a:t>Excel Regression Output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7AC7AA1-C145-7DED-4560-CD4ACA4DB92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02772" y="341691"/>
            <a:ext cx="6825343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Regression Statistics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Coefficients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R-square value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75088CE-EA29-F772-FFF8-99C7B34196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772" y="1726686"/>
            <a:ext cx="14479600" cy="4663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5790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DC21A-C12A-752C-E46B-02D380F7A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74" y="76200"/>
            <a:ext cx="8882742" cy="728133"/>
          </a:xfrm>
        </p:spPr>
        <p:txBody>
          <a:bodyPr/>
          <a:lstStyle/>
          <a:p>
            <a:r>
              <a:rPr lang="en-IN" u="sng" dirty="0"/>
              <a:t>Power BI Dashboard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AAADDC4-3E0D-E475-183E-C2824A2E56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097" y="804332"/>
            <a:ext cx="11556760" cy="5814181"/>
          </a:xfrm>
        </p:spPr>
      </p:pic>
    </p:spTree>
    <p:extLst>
      <p:ext uri="{BB962C8B-B14F-4D97-AF65-F5344CB8AC3E}">
        <p14:creationId xmlns:p14="http://schemas.microsoft.com/office/powerpoint/2010/main" val="35116838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4AD53-6598-4D61-1989-F97A5FB94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 dirty="0"/>
              <a:t>Key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BD41C4-95F8-DC2D-B62E-773C145EDE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b="1" dirty="0"/>
              <a:t>Business Insights</a:t>
            </a:r>
          </a:p>
          <a:p>
            <a:r>
              <a:rPr lang="en-US" sz="2400" dirty="0"/>
              <a:t>Higher R&amp;D spend increases profit </a:t>
            </a:r>
          </a:p>
          <a:p>
            <a:r>
              <a:rPr lang="en-US" sz="2400" dirty="0"/>
              <a:t>Marketing spend positively impacts profitability </a:t>
            </a:r>
          </a:p>
          <a:p>
            <a:r>
              <a:rPr lang="en-US" sz="2400" dirty="0"/>
              <a:t>Profit varies across states </a:t>
            </a:r>
          </a:p>
          <a:p>
            <a:r>
              <a:rPr lang="en-US" sz="2400" dirty="0"/>
              <a:t>Predicted profit closely matches actual profit </a:t>
            </a:r>
          </a:p>
          <a:p>
            <a:r>
              <a:rPr lang="en-US" sz="2400" dirty="0"/>
              <a:t>Residual error indicates prediction accuracy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878789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9AA1C-EA78-93DE-4C03-11E5B8260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 dirty="0"/>
              <a:t>Business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7038D0-4824-E561-7136-848149897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b="1" dirty="0"/>
              <a:t>Recommendations</a:t>
            </a:r>
          </a:p>
          <a:p>
            <a:r>
              <a:rPr lang="en-US" sz="2400" dirty="0"/>
              <a:t>Increase R&amp;D investment </a:t>
            </a:r>
          </a:p>
          <a:p>
            <a:r>
              <a:rPr lang="en-US" sz="2400" dirty="0"/>
              <a:t>Optimize marketing budget </a:t>
            </a:r>
          </a:p>
          <a:p>
            <a:r>
              <a:rPr lang="en-US" sz="2400" dirty="0"/>
              <a:t>Focus on profitable states </a:t>
            </a:r>
          </a:p>
          <a:p>
            <a:r>
              <a:rPr lang="en-US" sz="2400" dirty="0"/>
              <a:t>Monitor prediction deviations regularly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82103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0822D-B39F-5550-01D2-EE34F57D8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0088A9-E725-64E0-E158-8AA19A032D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Multiple Linear Regression successfully predicted startup profit.</a:t>
            </a:r>
          </a:p>
          <a:p>
            <a:r>
              <a:rPr lang="en-US" sz="2400" dirty="0"/>
              <a:t>Power BI dashboard provides actionable insights for decision-making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69488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BCD13-6FB3-6885-D4E4-F11EDA2F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116" y="2547257"/>
            <a:ext cx="10131425" cy="1456267"/>
          </a:xfrm>
        </p:spPr>
        <p:txBody>
          <a:bodyPr>
            <a:normAutofit/>
          </a:bodyPr>
          <a:lstStyle/>
          <a:p>
            <a:pPr algn="ctr"/>
            <a:r>
              <a:rPr lang="en-IN" sz="48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89283866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Celestial</Template>
  <TotalTime>152</TotalTime>
  <Words>229</Words>
  <Application>Microsoft Office PowerPoint</Application>
  <PresentationFormat>Widescreen</PresentationFormat>
  <Paragraphs>65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Celestial</vt:lpstr>
      <vt:lpstr>PRDA – 1 Profit Analysis</vt:lpstr>
      <vt:lpstr>Problem Statement</vt:lpstr>
      <vt:lpstr>Objective</vt:lpstr>
      <vt:lpstr>Dataset Understanding</vt:lpstr>
      <vt:lpstr>Data Preprocessing</vt:lpstr>
      <vt:lpstr>Regression Analysis</vt:lpstr>
      <vt:lpstr>Excel Regression Output</vt:lpstr>
      <vt:lpstr>Power BI Dashboard</vt:lpstr>
      <vt:lpstr>Key Insights</vt:lpstr>
      <vt:lpstr>Business Recommendations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Prabu vijay</dc:creator>
  <cp:lastModifiedBy>Prabu vijay</cp:lastModifiedBy>
  <cp:revision>14</cp:revision>
  <dcterms:created xsi:type="dcterms:W3CDTF">2026-05-12T17:39:25Z</dcterms:created>
  <dcterms:modified xsi:type="dcterms:W3CDTF">2026-05-27T17:44:04Z</dcterms:modified>
</cp:coreProperties>
</file>